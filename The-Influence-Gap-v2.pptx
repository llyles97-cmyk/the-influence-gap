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Source Sans 3"/>
      <p:regular r:id="rId23"/>
    </p:embeddedFont>
    <p:embeddedFont>
      <p:font typeface="Source Sans 3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398" y="2752725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Influence Gap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4521398" y="3690104"/>
            <a:ext cx="92452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Followers and Engagement Don't Reliably Predict Behavior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521398" y="4256961"/>
            <a:ext cx="9245203" cy="1219914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59" y="4566404"/>
            <a:ext cx="269915" cy="215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034" y="4526756"/>
            <a:ext cx="832770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Platforms optimize for interaction. Markets require action. The gap between the two is where performance breaks.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876669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Assumption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3814048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The industry runs on a broken proxy. Brands select creators by follower count and engagement rate. Platforms surface creators by interaction volume. The implicit logic: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engagement = more influence.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4704874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assumption has never been validated against actual buyer behavior. It remains the default selection signal across the entire influencer economy.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98044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543413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Engagement is a platform metric, not a market signal.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08184" y="3110270"/>
            <a:ext cx="7170539" cy="3621286"/>
          </a:xfrm>
          <a:prstGeom prst="roundRect">
            <a:avLst>
              <a:gd name="adj" fmla="val 895"/>
            </a:avLst>
          </a:prstGeom>
          <a:solidFill>
            <a:srgbClr val="1D1F22"/>
          </a:solidFill>
          <a:ln/>
        </p:spPr>
      </p:sp>
      <p:sp>
        <p:nvSpPr>
          <p:cNvPr id="5" name="Text 3"/>
          <p:cNvSpPr/>
          <p:nvPr/>
        </p:nvSpPr>
        <p:spPr>
          <a:xfrm>
            <a:off x="924044" y="3326130"/>
            <a:ext cx="304657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 Design Reality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24044" y="3848695"/>
            <a:ext cx="6738818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Platforms are engineered to maximize interaction — because interaction keeps users on-platform and drives ad revenue. That optimization loop has nothing to do with whether an audience will click, buy, or return to purchase again.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24044" y="5387459"/>
            <a:ext cx="6738818" cy="895945"/>
          </a:xfrm>
          <a:prstGeom prst="roundRect">
            <a:avLst>
              <a:gd name="adj" fmla="val 3616"/>
            </a:avLst>
          </a:prstGeom>
          <a:solidFill>
            <a:srgbClr val="45070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904" y="5696903"/>
            <a:ext cx="269915" cy="2158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5679" y="5657255"/>
            <a:ext cx="582132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gap isn't a measurement error. It's a design feature.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57699" y="3326130"/>
            <a:ext cx="431411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Brands Are Actually Buying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57699" y="3848695"/>
            <a:ext cx="5516404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Likes that don't convert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Comments that don't signal intent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Shares that don't drive traffic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Saves that don't generate revenue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57699" y="5565338"/>
            <a:ext cx="5516404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engagement metric you're reporting on was built to keep eyeballs on a feed — not to send money to your checkout page.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39441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Data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284809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analysis is built on a dataset large enough to stress-test the industry's core assumptions.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851666"/>
            <a:ext cx="6343412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079659" y="306752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150,000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659" y="3503771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Influencer campaigns across TikTok, Instagram, YouTube, and Twitter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071" y="2851666"/>
            <a:ext cx="6343531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638931" y="306752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 Categories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38931" y="3503771"/>
            <a:ext cx="591181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Beauty, Fashion, Food, Fitness, Travel, Tech, and Gaming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3798" y="4583430"/>
            <a:ext cx="6343412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1079659" y="479929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Campaign Types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9659" y="5235535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Launch, Seasonal Sale, Brand Awareness, Giveaway, Event Promotion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23071" y="4583430"/>
            <a:ext cx="6343531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7638931" y="479929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Derived Fields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38931" y="5235535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CTR, conversion rate, and action yield — built using HypeAuditor 2024 and Influencer Marketing Hub benchmarks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3798" y="6342221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fields were derived using platform benchmarks from HypeAuditor 2024 and Influencer Marketing Hub 2024, providing a standardized basis for cross-platform behavioral comparison.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06830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Framework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352199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independently meaningful dimensions of creator power — each measuring a different layer of audience behavior.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6071" y="2919055"/>
            <a:ext cx="431840" cy="43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94873" y="362081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Reach Power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4057055"/>
            <a:ext cx="631638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many people could realistically see this content? Raw potential audience exposure — the top of the funnel.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2370" y="2919055"/>
            <a:ext cx="431840" cy="43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81173" y="362081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Interaction Power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450098" y="4057055"/>
            <a:ext cx="6316504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Did the audience respond? Likes, comments, shares — the platform layer. Valuable, but not the whole story.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6071" y="5136833"/>
            <a:ext cx="431840" cy="431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94873" y="583858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Action Power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3798" y="6274832"/>
            <a:ext cx="631638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Did the audience do something in the market? Clicks, purchases, sign-ups — the signal that actually moves revenue.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2370" y="5136833"/>
            <a:ext cx="431840" cy="431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81173" y="583858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Retention Power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450098" y="6274832"/>
            <a:ext cx="6316504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Did the behavior repeat? Compounding loyalty is the rarest and most valuable creator attribute in the market.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78888"/>
            <a:ext cx="6250543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Influence Gap Score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08184" y="2516267"/>
            <a:ext cx="3678793" cy="4134326"/>
          </a:xfrm>
          <a:prstGeom prst="roundRect">
            <a:avLst>
              <a:gd name="adj" fmla="val 881"/>
            </a:avLst>
          </a:prstGeom>
          <a:solidFill>
            <a:srgbClr val="1D1F22"/>
          </a:solidFill>
          <a:ln/>
        </p:spPr>
      </p:sp>
      <p:sp>
        <p:nvSpPr>
          <p:cNvPr id="4" name="Text 2"/>
          <p:cNvSpPr/>
          <p:nvPr/>
        </p:nvSpPr>
        <p:spPr>
          <a:xfrm>
            <a:off x="924044" y="273212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Formula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24044" y="3312081"/>
            <a:ext cx="3247073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44" y="3312081"/>
            <a:ext cx="3247073" cy="11037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4044" y="4689038"/>
            <a:ext cx="3247073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scores allow cross-platform, cross-category comparison. The delta between action and interaction is the gap — made visible and measurable.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65953" y="273212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IGS Tells You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765953" y="3281720"/>
            <a:ext cx="4396145" cy="1987153"/>
          </a:xfrm>
          <a:prstGeom prst="roundRect">
            <a:avLst>
              <a:gd name="adj" fmla="val 73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5473" y="3281720"/>
            <a:ext cx="121920" cy="1987153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103733" y="352806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CAF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Positive IGS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103733" y="4050625"/>
            <a:ext cx="3812024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Action outpaces engagement. The creator converts more than their interaction metrics predict.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Underpriced.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377958" y="3281720"/>
            <a:ext cx="4396145" cy="1987153"/>
          </a:xfrm>
          <a:prstGeom prst="roundRect">
            <a:avLst>
              <a:gd name="adj" fmla="val 73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47478" y="3281720"/>
            <a:ext cx="121920" cy="1987153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9715738" y="352806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43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Negative IGS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715738" y="4050625"/>
            <a:ext cx="3812024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Engagement outpaces action. The audience performs for the platform, not the brand.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Engagement theater.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765953" y="5511760"/>
            <a:ext cx="9008150" cy="895945"/>
          </a:xfrm>
          <a:prstGeom prst="roundRect">
            <a:avLst>
              <a:gd name="adj" fmla="val 3616"/>
            </a:avLst>
          </a:prstGeom>
          <a:solidFill>
            <a:srgbClr val="02234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813" y="5821204"/>
            <a:ext cx="269915" cy="2158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67588" y="5781556"/>
            <a:ext cx="8090654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IGS is not a ranking. It is a diagnostic. It makes the mismatch visible.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60884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Archetypes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406253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Seven creator segments defined by IGS and behavioral pattern — each requiring a fundamentally different strategy.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973110"/>
            <a:ext cx="3063716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168479" y="318897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Ghost Amplifier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659" y="3625215"/>
            <a:ext cx="263199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reach, zero resonance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43375" y="2973110"/>
            <a:ext cx="3063835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4448175" y="318897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Engagement Trap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59235" y="3625215"/>
            <a:ext cx="263211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interaction, no conversion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23071" y="2973110"/>
            <a:ext cx="3063835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7727871" y="318897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Quiet Converter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38931" y="3625215"/>
            <a:ext cx="2632115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Low engagement, high conversion. </a:t>
            </a:r>
            <a:pPr algn="ctr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underpriced creator in the market.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702766" y="2973110"/>
            <a:ext cx="3063835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007566" y="318897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Spike Artist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18627" y="3625215"/>
            <a:ext cx="263211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Viral moments, no repeatability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3798" y="5352812"/>
            <a:ext cx="4156948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1715095" y="556867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 Native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9659" y="6004917"/>
            <a:ext cx="372522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for the feed, not the funnel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236607" y="5352812"/>
            <a:ext cx="4157067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20" name="Text 18"/>
          <p:cNvSpPr/>
          <p:nvPr/>
        </p:nvSpPr>
        <p:spPr>
          <a:xfrm>
            <a:off x="6088023" y="556867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Loyalty Engine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52467" y="6004917"/>
            <a:ext cx="3725347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Consistent, compounding audience value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09534" y="5352812"/>
            <a:ext cx="4157067" cy="1515904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49878" y="5568672"/>
            <a:ext cx="247626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Full-Funnel Creator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825395" y="6004917"/>
            <a:ext cx="372534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Rare. Performs across all four dimensions.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93539"/>
            <a:ext cx="6694170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Evidence: Decoupling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738908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Pearson correlation between engagement rate and conversion rate — measured across 150,000 campaigns.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548652"/>
            <a:ext cx="7530822" cy="42171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9211" y="2521625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Pearson r by Platform</a:t>
            </a:r>
            <a:endParaRPr lang="en-US" sz="1900" dirty="0"/>
          </a:p>
        </p:txBody>
      </p:sp>
      <p:sp>
        <p:nvSpPr>
          <p:cNvPr id="20" name="Text r-values"/>
          <p:cNvSpPr/>
          <p:nvPr/>
        </p:nvSpPr>
        <p:spPr>
          <a:xfrm>
            <a:off x="8929211" y="2960000"/>
            <a:ext cx="4844891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</a:rPr>
              <a:t xml:space="preserve">Twitter		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</a:rPr>
              <a:t>r = 0.018</a:t>
            </a:r>
          </a:p>
          <a:p>
            <a:pPr algn="l"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</a:rPr>
              <a:t xml:space="preserve">Instagram	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</a:rPr>
              <a:t>r = 0.103</a:t>
            </a:r>
          </a:p>
          <a:p>
            <a:pPr algn="l"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</a:rPr>
              <a:t xml:space="preserve">YouTube		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</a:rPr>
              <a:t>r = 0.126</a:t>
            </a:r>
          </a:p>
          <a:p>
            <a:pPr algn="l"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</a:rPr>
              <a:t xml:space="preserve">TikTok		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</a:rPr>
              <a:t>r = 0.139</a:t>
            </a:r>
          </a:p>
        </p:txBody>
      </p:sp>
      <p:sp>
        <p:nvSpPr>
          <p:cNvPr id="21" name="Text WhatThisMeans"/>
          <p:cNvSpPr/>
          <p:nvPr/>
        </p:nvSpPr>
        <p:spPr>
          <a:xfrm>
            <a:off x="8929211" y="490000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</a:rPr>
              <a:t>What This Means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29211" y="5380000"/>
            <a:ext cx="4844891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Engagement explains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less than 2% of conversion variance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 on Twitter. Even TikTok — the strongest performer — explains under 2% of variance at r = 0.139.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29211" y="6750000"/>
            <a:ext cx="48448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correlation is statistically real. But it is practically meaningless as a creator selection signal. You are optimizing for noise.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929211" y="5749171"/>
            <a:ext cx="4844891" cy="1543883"/>
          </a:xfrm>
          <a:prstGeom prst="roundRect">
            <a:avLst>
              <a:gd name="adj" fmla="val 2098"/>
            </a:avLst>
          </a:prstGeom>
          <a:solidFill>
            <a:srgbClr val="4B3F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072" y="6058614"/>
            <a:ext cx="269915" cy="215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30847" y="6018967"/>
            <a:ext cx="3927396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brief built on engagement rate as a primary signal is built on a correlation that explains almost nothing.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92825"/>
            <a:ext cx="7129582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Evidence: Platform Gap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738193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IGS is not random — it is structurally determined by platform architecture. Different platforms produce systematically different ratios of engagement to action.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871907"/>
            <a:ext cx="6859310" cy="3841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57699" y="2871907"/>
            <a:ext cx="2650212" cy="2635091"/>
          </a:xfrm>
          <a:prstGeom prst="roundRect">
            <a:avLst>
              <a:gd name="adj" fmla="val 555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7219" y="2871907"/>
            <a:ext cx="121920" cy="2635091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595479" y="3118247"/>
            <a:ext cx="206609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Twitter: −0.44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95479" y="3640812"/>
            <a:ext cx="2066092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Engagement-heavy, action-light. The most overhyped platform for conversion-focused campaigns.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1123771" y="2871907"/>
            <a:ext cx="2650331" cy="2635091"/>
          </a:xfrm>
          <a:prstGeom prst="roundRect">
            <a:avLst>
              <a:gd name="adj" fmla="val 555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093291" y="2871907"/>
            <a:ext cx="121920" cy="2635091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461552" y="3118247"/>
            <a:ext cx="206621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TikTok: +0.33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461552" y="3640812"/>
            <a:ext cx="2066211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Action-positive. Short-form video drives behavior at a rate engagement metrics don't predict.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57699" y="5749885"/>
            <a:ext cx="5516404" cy="1543883"/>
          </a:xfrm>
          <a:prstGeom prst="roundRect">
            <a:avLst>
              <a:gd name="adj" fmla="val 2098"/>
            </a:avLst>
          </a:prstGeom>
          <a:solidFill>
            <a:srgbClr val="26262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59" y="6059329"/>
            <a:ext cx="269915" cy="2158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59334" y="6019681"/>
            <a:ext cx="4598908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gap is structural — a product of platform architecture, not creator quality. Creators don't fail platforms. Platforms fail brands.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28023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Money Slide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373392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budget. Radically different outcomes. This is not a performance variance — it is a selection failure.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3048119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66,942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97117" y="403062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Avg. Engagements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466868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Engagement Trap creator — high interaction, high cost, </a:t>
            </a:r>
            <a:pPr algn="ctr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average conversions</a:t>
            </a:r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 per campaign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54704" y="3048119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20,072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088023" y="403062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Avg. Engagements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254704" y="4466868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Quiet Converter creator — low interaction, lower cost, </a:t>
            </a:r>
            <a:pPr algn="ctr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807 average conversions</a:t>
            </a:r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 per campaign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45610" y="3048119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6,203×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0478929" y="403062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More Action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45610" y="4466868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Quiet Converters deliver 6,203× more action per engagement unit — with 3× less raw engagement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3798" y="5681663"/>
            <a:ext cx="12902803" cy="1219914"/>
          </a:xfrm>
          <a:prstGeom prst="roundRect">
            <a:avLst>
              <a:gd name="adj" fmla="val 2656"/>
            </a:avLst>
          </a:prstGeom>
          <a:solidFill>
            <a:srgbClr val="450707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9" y="5991106"/>
            <a:ext cx="269915" cy="2158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65434" y="5951458"/>
            <a:ext cx="1198530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Brands optimizing for engagement metrics are systematically overpaying for the wrong signal — and leaving measurable ROI on the table with every brief they sign.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32842"/>
            <a:ext cx="6576893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Product: InfluenceOS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770221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signing a creator brief, a strategist pulls their IGS trend across their last 5 campaigns. If it’s negative and declining, they’re an Engagement Trap — regardless of what the rate card says.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creator intelligence layer built to replace gut feel and engagement proxies with behavioral precision.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08184" y="2661047"/>
            <a:ext cx="3947398" cy="4735592"/>
          </a:xfrm>
          <a:prstGeom prst="roundRect">
            <a:avLst>
              <a:gd name="adj" fmla="val 821"/>
            </a:avLst>
          </a:prstGeom>
          <a:solidFill>
            <a:srgbClr val="1D1F22"/>
          </a:solidFill>
          <a:ln/>
        </p:spPr>
      </p:sp>
      <p:sp>
        <p:nvSpPr>
          <p:cNvPr id="5" name="Text 3"/>
          <p:cNvSpPr/>
          <p:nvPr/>
        </p:nvSpPr>
        <p:spPr>
          <a:xfrm>
            <a:off x="924044" y="287690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It Does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24044" y="3399473"/>
            <a:ext cx="3515678" cy="3466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Scores and segments creators by IGS, archetype, and behavioral trend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Updates automatically after every campaign cycle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Replaces engagement-proxy shortlisting with action-based selection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Surfaces Quiet Converters before your competitors find them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34558" y="287690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Built For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5520" y="3433227"/>
            <a:ext cx="323850" cy="323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36312" y="342650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Brand Strategists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736312" y="3949065"/>
            <a:ext cx="80377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 the difference between a Quiet Converter and an Engagement Trap before you sign the brief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5520" y="5035570"/>
            <a:ext cx="323850" cy="323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36312" y="502884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Agencies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736312" y="5551408"/>
            <a:ext cx="803779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vanity metric reporting with behavioral evidence your clients can act on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5520" y="6313944"/>
            <a:ext cx="323850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36312" y="6307217"/>
            <a:ext cx="307669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DTC Brands &amp; Platforms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736312" y="6829782"/>
            <a:ext cx="803779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Allocate creator spend where action yield is proven, not assumed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82598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Implications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827967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measurement infrastructure of influencer marketing was built for platform retention — not brand outcomes. That's the gap. And it is solvable.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718792"/>
            <a:ext cx="4156948" cy="3351490"/>
          </a:xfrm>
          <a:prstGeom prst="roundRect">
            <a:avLst>
              <a:gd name="adj" fmla="val 967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1079659" y="2934653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776" y="3112770"/>
            <a:ext cx="291465" cy="2914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659" y="379833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Brands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79659" y="4234577"/>
            <a:ext cx="3725228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Stop buying engagement. Buy action yield. Every selection decision made on follower count or engagement rate is a bet placed on the wrong variable.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36607" y="2718792"/>
            <a:ext cx="4157067" cy="3351490"/>
          </a:xfrm>
          <a:prstGeom prst="roundRect">
            <a:avLst>
              <a:gd name="adj" fmla="val 967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5452467" y="2934653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585" y="3112770"/>
            <a:ext cx="291465" cy="2914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2467" y="379833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Platforms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52467" y="4234577"/>
            <a:ext cx="372534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IGS as a ranking signal surfaces higher-ROI creators to brand partners — aligning platform incentives with actual advertiser outcomes.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609534" y="2718792"/>
            <a:ext cx="4157067" cy="3351490"/>
          </a:xfrm>
          <a:prstGeom prst="roundRect">
            <a:avLst>
              <a:gd name="adj" fmla="val 967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5395" y="2934653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3512" y="3112770"/>
            <a:ext cx="291465" cy="2914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5395" y="379833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the Industry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825395" y="4234577"/>
            <a:ext cx="3725347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current measurement infrastructure optimizes for platform retention, not brand outcomes. Adopting behavioral metrics is not an upgrade — it is a correction.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87648" y="6556057"/>
            <a:ext cx="1257895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gap between engagement and action is not a bug in the data. It is the business model of every major platform. Knowing that changes everything about how you buy.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863798" y="6313170"/>
            <a:ext cx="30480" cy="1133713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2026-04-15T22:05:58Z</dcterms:created>
  <dcterms:modified xsi:type="dcterms:W3CDTF">2026-04-15T22:05:58Z</dcterms:modified>
</cp:coreProperties>
</file>